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6" r:id="rId4"/>
  </p:sldIdLst>
  <p:sldSz cx="21599525" cy="3024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B4F7"/>
    <a:srgbClr val="624D95"/>
    <a:srgbClr val="A090C6"/>
    <a:srgbClr val="F69A59"/>
    <a:srgbClr val="F19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2" autoAdjust="0"/>
    <p:restoredTop sz="94660"/>
  </p:normalViewPr>
  <p:slideViewPr>
    <p:cSldViewPr snapToGrid="0" showGuides="1">
      <p:cViewPr varScale="1">
        <p:scale>
          <a:sx n="25" d="100"/>
          <a:sy n="25" d="100"/>
        </p:scale>
        <p:origin x="345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3C5EF51-8989-AFD9-37C1-60FE6A01BC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5"/>
            <a:ext cx="21599525" cy="30236897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5B5A119E-1B06-8E09-16DA-6D41E6FBB7C5}"/>
              </a:ext>
            </a:extLst>
          </p:cNvPr>
          <p:cNvGrpSpPr/>
          <p:nvPr userDrawn="1"/>
        </p:nvGrpSpPr>
        <p:grpSpPr>
          <a:xfrm>
            <a:off x="14593949" y="3542633"/>
            <a:ext cx="1594759" cy="2236959"/>
            <a:chOff x="14516100" y="3307501"/>
            <a:chExt cx="1594759" cy="223695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BC3D95-9BD2-DF13-C09F-6FF61635D9A1}"/>
                </a:ext>
              </a:extLst>
            </p:cNvPr>
            <p:cNvSpPr txBox="1"/>
            <p:nvPr/>
          </p:nvSpPr>
          <p:spPr>
            <a:xfrm>
              <a:off x="14589127" y="3307501"/>
              <a:ext cx="1521732" cy="223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>
                  <a:solidFill>
                    <a:srgbClr val="002060"/>
                  </a:solidFill>
                  <a:latin typeface="+mn-ea"/>
                </a:rPr>
                <a:t>교과목명</a:t>
              </a:r>
              <a:endParaRPr lang="en-US" altLang="ko-KR" sz="2400" b="1" spc="-150" dirty="0">
                <a:solidFill>
                  <a:srgbClr val="002060"/>
                </a:solidFill>
                <a:latin typeface="+mn-ea"/>
              </a:endParaRPr>
            </a:p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 err="1">
                  <a:solidFill>
                    <a:srgbClr val="002060"/>
                  </a:solidFill>
                  <a:latin typeface="+mn-ea"/>
                </a:rPr>
                <a:t>팀명</a:t>
              </a:r>
              <a:endParaRPr lang="en-US" altLang="ko-KR" sz="2400" b="1" spc="-150" dirty="0">
                <a:solidFill>
                  <a:srgbClr val="002060"/>
                </a:solidFill>
                <a:latin typeface="+mn-ea"/>
              </a:endParaRPr>
            </a:p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>
                  <a:solidFill>
                    <a:srgbClr val="002060"/>
                  </a:solidFill>
                  <a:latin typeface="+mn-ea"/>
                </a:rPr>
                <a:t>팀 원</a:t>
              </a:r>
              <a:endParaRPr lang="en-US" altLang="ko-KR" sz="2400" b="1" spc="-150" dirty="0">
                <a:solidFill>
                  <a:srgbClr val="002060"/>
                </a:solidFill>
                <a:latin typeface="+mn-ea"/>
              </a:endParaRPr>
            </a:p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>
                  <a:solidFill>
                    <a:srgbClr val="002060"/>
                  </a:solidFill>
                  <a:latin typeface="+mn-ea"/>
                </a:rPr>
                <a:t>지도교수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D93B88A-4434-1376-EDC0-B766F2274C1B}"/>
                </a:ext>
              </a:extLst>
            </p:cNvPr>
            <p:cNvSpPr/>
            <p:nvPr/>
          </p:nvSpPr>
          <p:spPr>
            <a:xfrm>
              <a:off x="14516100" y="3505200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0CAF54F-B9CD-CB59-4686-7279F524FDBC}"/>
                </a:ext>
              </a:extLst>
            </p:cNvPr>
            <p:cNvSpPr/>
            <p:nvPr/>
          </p:nvSpPr>
          <p:spPr>
            <a:xfrm>
              <a:off x="14516100" y="4015319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5196C57-F7AB-6E2B-DB92-ACA09D9A5770}"/>
                </a:ext>
              </a:extLst>
            </p:cNvPr>
            <p:cNvSpPr/>
            <p:nvPr/>
          </p:nvSpPr>
          <p:spPr>
            <a:xfrm>
              <a:off x="14516100" y="4578088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236F905-0DC8-C8E0-13AB-6E0C0F4BE525}"/>
                </a:ext>
              </a:extLst>
            </p:cNvPr>
            <p:cNvSpPr/>
            <p:nvPr/>
          </p:nvSpPr>
          <p:spPr>
            <a:xfrm>
              <a:off x="14516100" y="5140857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래픽 3">
            <a:extLst>
              <a:ext uri="{FF2B5EF4-FFF2-40B4-BE49-F238E27FC236}">
                <a16:creationId xmlns:a16="http://schemas.microsoft.com/office/drawing/2014/main" id="{7EC6D99D-5A84-130C-12BD-A57E6EDB3C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458366" y="608845"/>
            <a:ext cx="423773" cy="4237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FE71D-E3D9-293B-F5D8-D5223D64811B}"/>
              </a:ext>
            </a:extLst>
          </p:cNvPr>
          <p:cNvSpPr txBox="1"/>
          <p:nvPr userDrawn="1"/>
        </p:nvSpPr>
        <p:spPr>
          <a:xfrm>
            <a:off x="1670252" y="735104"/>
            <a:ext cx="1281684" cy="5950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600" b="1" spc="0" dirty="0">
                <a:solidFill>
                  <a:schemeClr val="bg1"/>
                </a:solidFill>
                <a:latin typeface="+mn-ea"/>
              </a:rPr>
              <a:t>2025</a:t>
            </a:r>
            <a:endParaRPr lang="ko-KR" altLang="en-US" sz="3600" b="1" spc="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871087F-1EA7-4358-AAB1-5DD32B9354B5}"/>
              </a:ext>
            </a:extLst>
          </p:cNvPr>
          <p:cNvGrpSpPr/>
          <p:nvPr userDrawn="1"/>
        </p:nvGrpSpPr>
        <p:grpSpPr>
          <a:xfrm>
            <a:off x="1670252" y="1236202"/>
            <a:ext cx="5709639" cy="595027"/>
            <a:chOff x="4215332" y="681316"/>
            <a:chExt cx="5709639" cy="5950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EA3C43-9CB6-9954-8AAC-7BD26DE8E45D}"/>
                </a:ext>
              </a:extLst>
            </p:cNvPr>
            <p:cNvSpPr txBox="1"/>
            <p:nvPr userDrawn="1"/>
          </p:nvSpPr>
          <p:spPr>
            <a:xfrm>
              <a:off x="4215332" y="681316"/>
              <a:ext cx="4341928" cy="59502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C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A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P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S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T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O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N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E 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D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E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S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I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G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N</a:t>
              </a:r>
              <a:endParaRPr lang="ko-KR" altLang="en-US" sz="3600" b="1" spc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E616C4-6626-3BEF-E635-C313E2574620}"/>
                </a:ext>
              </a:extLst>
            </p:cNvPr>
            <p:cNvSpPr txBox="1"/>
            <p:nvPr userDrawn="1"/>
          </p:nvSpPr>
          <p:spPr>
            <a:xfrm>
              <a:off x="8488680" y="794163"/>
              <a:ext cx="1436291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800" b="1" spc="0" dirty="0">
                  <a:solidFill>
                    <a:schemeClr val="bg1"/>
                  </a:solidFill>
                  <a:latin typeface="+mn-ea"/>
                </a:rPr>
                <a:t>경진대회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906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2">
          <p15:clr>
            <a:srgbClr val="FBAE40"/>
          </p15:clr>
        </p15:guide>
        <p15:guide id="2" pos="1156">
          <p15:clr>
            <a:srgbClr val="FBAE40"/>
          </p15:clr>
        </p15:guide>
        <p15:guide id="3" orient="horz" pos="2131">
          <p15:clr>
            <a:srgbClr val="FBAE40"/>
          </p15:clr>
        </p15:guide>
        <p15:guide id="4" pos="1360">
          <p15:clr>
            <a:srgbClr val="FBAE40"/>
          </p15:clr>
        </p15:guide>
        <p15:guide id="5" pos="6417">
          <p15:clr>
            <a:srgbClr val="FBAE40"/>
          </p15:clr>
        </p15:guide>
        <p15:guide id="6" pos="6622">
          <p15:clr>
            <a:srgbClr val="FBAE40"/>
          </p15:clr>
        </p15:guide>
        <p15:guide id="7" pos="7030">
          <p15:clr>
            <a:srgbClr val="FBAE40"/>
          </p15:clr>
        </p15:guide>
        <p15:guide id="8" pos="7211">
          <p15:clr>
            <a:srgbClr val="FBAE40"/>
          </p15:clr>
        </p15:guide>
        <p15:guide id="9" pos="12269">
          <p15:clr>
            <a:srgbClr val="FBAE40"/>
          </p15:clr>
        </p15:guide>
        <p15:guide id="10" pos="12473">
          <p15:clr>
            <a:srgbClr val="FBAE40"/>
          </p15:clr>
        </p15:guide>
        <p15:guide id="11" orient="horz" pos="17735">
          <p15:clr>
            <a:srgbClr val="FBAE40"/>
          </p15:clr>
        </p15:guide>
        <p15:guide id="12" orient="horz" pos="44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610022"/>
            <a:ext cx="18629590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050077"/>
            <a:ext cx="18629590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28028274"/>
            <a:ext cx="4859893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10DE-AFC6-4949-95E6-88F2FE0C6B5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8028274"/>
            <a:ext cx="728984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28028274"/>
            <a:ext cx="4859893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C9886-AF1E-45BD-8B2F-085BE947B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48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279798" y="8692970"/>
            <a:ext cx="1356575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200" b="1" dirty="0" smtClean="0">
                <a:latin typeface="+mn-ea"/>
              </a:rPr>
              <a:t>[</a:t>
            </a:r>
            <a:r>
              <a:rPr lang="ko-KR" altLang="en-US" sz="7200" b="1" dirty="0" smtClean="0">
                <a:latin typeface="+mn-ea"/>
              </a:rPr>
              <a:t>포스터 작성 유의사항</a:t>
            </a:r>
            <a:r>
              <a:rPr lang="en-US" altLang="ko-KR" sz="7200" b="1" dirty="0" smtClean="0">
                <a:latin typeface="+mn-ea"/>
              </a:rPr>
              <a:t>]</a:t>
            </a:r>
          </a:p>
          <a:p>
            <a:endParaRPr lang="en-US" altLang="ko-KR" sz="4000" dirty="0">
              <a:latin typeface="+mn-ea"/>
            </a:endParaRPr>
          </a:p>
          <a:p>
            <a:pPr marL="742950" indent="-742950">
              <a:buAutoNum type="arabicPeriod"/>
            </a:pPr>
            <a:r>
              <a:rPr lang="ko-KR" altLang="en-US" sz="4000" dirty="0">
                <a:latin typeface="+mn-ea"/>
              </a:rPr>
              <a:t>글자체</a:t>
            </a:r>
            <a:r>
              <a:rPr lang="en-US" altLang="ko-KR" sz="4000" dirty="0">
                <a:latin typeface="+mn-ea"/>
              </a:rPr>
              <a:t>: </a:t>
            </a:r>
            <a:r>
              <a:rPr lang="ko-KR" altLang="en-US" sz="4000" dirty="0" err="1">
                <a:latin typeface="+mn-ea"/>
              </a:rPr>
              <a:t>맑은고딕</a:t>
            </a:r>
            <a:r>
              <a:rPr lang="en-US" altLang="ko-KR" sz="4000" dirty="0">
                <a:latin typeface="+mn-ea"/>
              </a:rPr>
              <a:t>(</a:t>
            </a:r>
            <a:r>
              <a:rPr lang="ko-KR" altLang="en-US" sz="4000" dirty="0">
                <a:latin typeface="+mn-ea"/>
              </a:rPr>
              <a:t>본문</a:t>
            </a:r>
            <a:r>
              <a:rPr lang="en-US" altLang="ko-KR" sz="4000" dirty="0">
                <a:latin typeface="+mn-ea"/>
              </a:rPr>
              <a:t>) 24</a:t>
            </a:r>
          </a:p>
          <a:p>
            <a:pPr marL="742950" indent="-742950">
              <a:buAutoNum type="arabicPeriod"/>
            </a:pPr>
            <a:endParaRPr lang="en-US" altLang="ko-KR" sz="4000" dirty="0">
              <a:latin typeface="+mn-ea"/>
            </a:endParaRPr>
          </a:p>
          <a:p>
            <a:pPr marL="742950" indent="-742950">
              <a:buAutoNum type="arabicPeriod"/>
            </a:pPr>
            <a:r>
              <a:rPr lang="ko-KR" altLang="en-US" sz="4000" dirty="0">
                <a:latin typeface="+mn-ea"/>
              </a:rPr>
              <a:t>팀 특성에 부합하는 레이아웃 선택</a:t>
            </a:r>
            <a:r>
              <a:rPr lang="en-US" altLang="ko-KR" sz="4000" dirty="0">
                <a:latin typeface="+mn-ea"/>
              </a:rPr>
              <a:t>(</a:t>
            </a:r>
            <a:r>
              <a:rPr lang="ko-KR" altLang="en-US" sz="4000" dirty="0">
                <a:latin typeface="+mn-ea"/>
              </a:rPr>
              <a:t>샘플 중 </a:t>
            </a:r>
            <a:r>
              <a:rPr lang="ko-KR" altLang="en-US" sz="4000" dirty="0" err="1">
                <a:latin typeface="+mn-ea"/>
              </a:rPr>
              <a:t>택</a:t>
            </a:r>
            <a:r>
              <a:rPr lang="ko-KR" altLang="en-US" sz="4000" dirty="0">
                <a:latin typeface="+mn-ea"/>
              </a:rPr>
              <a:t> </a:t>
            </a:r>
            <a:r>
              <a:rPr lang="en-US" altLang="ko-KR" sz="4000" dirty="0">
                <a:latin typeface="+mn-ea"/>
              </a:rPr>
              <a:t>1)</a:t>
            </a:r>
            <a:r>
              <a:rPr lang="ko-KR" altLang="en-US" sz="4000" dirty="0">
                <a:latin typeface="+mn-ea"/>
              </a:rPr>
              <a:t>하여</a:t>
            </a:r>
            <a:r>
              <a:rPr lang="en-US" altLang="ko-KR" sz="4000" dirty="0">
                <a:latin typeface="+mn-ea"/>
              </a:rPr>
              <a:t> </a:t>
            </a:r>
          </a:p>
          <a:p>
            <a:r>
              <a:rPr lang="en-US" altLang="ko-KR" sz="4000" dirty="0">
                <a:latin typeface="+mn-ea"/>
              </a:rPr>
              <a:t>    </a:t>
            </a:r>
            <a:r>
              <a:rPr lang="ko-KR" altLang="en-US" sz="4000" dirty="0">
                <a:latin typeface="+mn-ea"/>
              </a:rPr>
              <a:t>기타 페이지 삭제 후</a:t>
            </a:r>
            <a:r>
              <a:rPr lang="en-US" altLang="ko-KR" sz="4000" dirty="0">
                <a:latin typeface="+mn-ea"/>
              </a:rPr>
              <a:t>, 1</a:t>
            </a:r>
            <a:r>
              <a:rPr lang="ko-KR" altLang="en-US" sz="4000" dirty="0">
                <a:latin typeface="+mn-ea"/>
              </a:rPr>
              <a:t>장의 포스터만 제출합니다</a:t>
            </a:r>
            <a:r>
              <a:rPr lang="en-US" altLang="ko-KR" sz="4000" dirty="0">
                <a:latin typeface="+mn-ea"/>
              </a:rPr>
              <a:t>.</a:t>
            </a:r>
          </a:p>
          <a:p>
            <a:endParaRPr lang="en-US" altLang="ko-KR" sz="4000" dirty="0">
              <a:latin typeface="+mn-ea"/>
            </a:endParaRPr>
          </a:p>
          <a:p>
            <a:r>
              <a:rPr lang="en-US" altLang="ko-KR" sz="4000" dirty="0">
                <a:latin typeface="+mn-ea"/>
              </a:rPr>
              <a:t>3. </a:t>
            </a:r>
            <a:r>
              <a:rPr lang="ko-KR" altLang="en-US" sz="4000" dirty="0">
                <a:latin typeface="+mn-ea"/>
              </a:rPr>
              <a:t>파일명 </a:t>
            </a:r>
            <a:r>
              <a:rPr lang="en-US" altLang="ko-KR" sz="4000" dirty="0">
                <a:latin typeface="+mn-ea"/>
              </a:rPr>
              <a:t>[</a:t>
            </a:r>
            <a:r>
              <a:rPr lang="en-US" altLang="ko-KR" sz="4000" dirty="0" smtClean="0">
                <a:latin typeface="+mn-ea"/>
              </a:rPr>
              <a:t>25</a:t>
            </a:r>
            <a:r>
              <a:rPr lang="ko-KR" altLang="en-US" sz="4000" dirty="0" smtClean="0">
                <a:latin typeface="+mn-ea"/>
              </a:rPr>
              <a:t>년 </a:t>
            </a:r>
            <a:r>
              <a:rPr lang="en-US" altLang="ko-KR" sz="4000" dirty="0">
                <a:latin typeface="+mn-ea"/>
              </a:rPr>
              <a:t>2</a:t>
            </a:r>
            <a:r>
              <a:rPr lang="ko-KR" altLang="en-US" sz="4000" dirty="0" smtClean="0">
                <a:latin typeface="+mn-ea"/>
              </a:rPr>
              <a:t>학기 </a:t>
            </a:r>
            <a:r>
              <a:rPr lang="ko-KR" altLang="en-US" sz="4000" dirty="0">
                <a:latin typeface="+mn-ea"/>
              </a:rPr>
              <a:t>포스터</a:t>
            </a:r>
            <a:r>
              <a:rPr lang="en-US" altLang="ko-KR" sz="4000" dirty="0">
                <a:latin typeface="+mn-ea"/>
              </a:rPr>
              <a:t>_</a:t>
            </a:r>
            <a:r>
              <a:rPr lang="ko-KR" altLang="en-US" sz="4000" dirty="0" err="1">
                <a:latin typeface="+mn-ea"/>
              </a:rPr>
              <a:t>팀명</a:t>
            </a:r>
            <a:r>
              <a:rPr lang="en-US" altLang="ko-KR" sz="4000" dirty="0">
                <a:latin typeface="+mn-ea"/>
              </a:rPr>
              <a:t>(</a:t>
            </a:r>
            <a:r>
              <a:rPr lang="ko-KR" altLang="en-US" sz="4000" dirty="0" err="1">
                <a:latin typeface="+mn-ea"/>
              </a:rPr>
              <a:t>팀장명</a:t>
            </a:r>
            <a:r>
              <a:rPr lang="en-US" altLang="ko-KR" sz="4000" dirty="0" smtClean="0">
                <a:latin typeface="+mn-ea"/>
              </a:rPr>
              <a:t>)]</a:t>
            </a:r>
            <a:r>
              <a:rPr lang="ko-KR" altLang="en-US" sz="4000" dirty="0" smtClean="0">
                <a:latin typeface="+mn-ea"/>
              </a:rPr>
              <a:t>으로 </a:t>
            </a:r>
            <a:r>
              <a:rPr lang="ko-KR" altLang="en-US" sz="4000" dirty="0">
                <a:latin typeface="+mn-ea"/>
              </a:rPr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356937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B79D91A-3250-C432-186D-4B1F1C3553F8}"/>
              </a:ext>
            </a:extLst>
          </p:cNvPr>
          <p:cNvSpPr txBox="1"/>
          <p:nvPr/>
        </p:nvSpPr>
        <p:spPr>
          <a:xfrm>
            <a:off x="2159792" y="8092526"/>
            <a:ext cx="80279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한림대학교 홈페이지를 방문해 주신 여러분 반갑습니다</a:t>
            </a:r>
            <a:r>
              <a:rPr lang="en-US" altLang="ko-KR" sz="2400" dirty="0">
                <a:latin typeface="+mn-ea"/>
              </a:rPr>
              <a:t>.</a:t>
            </a:r>
            <a:r>
              <a:rPr lang="ko-KR" altLang="en-US" sz="2400" dirty="0">
                <a:latin typeface="+mn-ea"/>
              </a:rPr>
              <a:t/>
            </a:r>
            <a:br>
              <a:rPr lang="ko-KR" altLang="en-US" sz="2400" dirty="0">
                <a:latin typeface="+mn-ea"/>
              </a:rPr>
            </a:br>
            <a:r>
              <a:rPr lang="ko-KR" altLang="en-US" sz="2400" dirty="0">
                <a:latin typeface="+mn-ea"/>
              </a:rPr>
              <a:t> </a:t>
            </a:r>
            <a:br>
              <a:rPr lang="ko-KR" altLang="en-US" sz="2400" dirty="0">
                <a:latin typeface="+mn-ea"/>
              </a:rPr>
            </a:br>
            <a:r>
              <a:rPr lang="ko-KR" altLang="en-US" sz="2400" dirty="0">
                <a:latin typeface="+mn-ea"/>
              </a:rPr>
              <a:t>한림대학교는 새로운 시대의 성숙한 인재를 키우는 사학의 명문으로 거듭나고 있습니다</a:t>
            </a:r>
            <a:r>
              <a:rPr lang="en-US" altLang="ko-KR" sz="2400" dirty="0">
                <a:latin typeface="+mn-ea"/>
              </a:rPr>
              <a:t>. 1982</a:t>
            </a:r>
            <a:r>
              <a:rPr lang="ko-KR" altLang="en-US" sz="2400" dirty="0">
                <a:latin typeface="+mn-ea"/>
              </a:rPr>
              <a:t>년 개교 이래 훌륭한 학생을 배출하는 선도대학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사회적 책임을 다하는 대학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혁신을 주도하는 대학을 목표로 노력하여 괄목할만한 성과를 이루고 있습니다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E84A13D-7D4F-C2EB-7C8B-72F0E1B7058A}"/>
              </a:ext>
            </a:extLst>
          </p:cNvPr>
          <p:cNvCxnSpPr>
            <a:cxnSpLocks/>
          </p:cNvCxnSpPr>
          <p:nvPr/>
        </p:nvCxnSpPr>
        <p:spPr>
          <a:xfrm>
            <a:off x="1835148" y="16876750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F2ACFE3-A8EB-2C8B-FC73-BCA82A9CB03B}"/>
              </a:ext>
            </a:extLst>
          </p:cNvPr>
          <p:cNvSpPr txBox="1"/>
          <p:nvPr/>
        </p:nvSpPr>
        <p:spPr>
          <a:xfrm>
            <a:off x="2159792" y="18833582"/>
            <a:ext cx="8027988" cy="92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대학의 사명은 더 이상 지식만을 전수하는 상아탑이 아닙니다</a:t>
            </a:r>
            <a:r>
              <a:rPr lang="en-US" altLang="ko-KR" sz="2400" dirty="0">
                <a:latin typeface="+mn-ea"/>
              </a:rPr>
              <a:t>. ‘</a:t>
            </a:r>
            <a:r>
              <a:rPr lang="ko-KR" altLang="en-US" sz="2400" dirty="0">
                <a:latin typeface="+mn-ea"/>
              </a:rPr>
              <a:t>울타리가 없이 누구나 쉽게 접근하는 사회적 </a:t>
            </a:r>
            <a:r>
              <a:rPr lang="ko-KR" altLang="en-US" sz="2400" dirty="0" err="1">
                <a:latin typeface="+mn-ea"/>
              </a:rPr>
              <a:t>플랫폼’으로</a:t>
            </a:r>
            <a:r>
              <a:rPr lang="ko-KR" altLang="en-US" sz="2400" dirty="0">
                <a:latin typeface="+mn-ea"/>
              </a:rPr>
              <a:t> 동작해야만 합니다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교육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연구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산학협동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봉사가 과거의 대학이 담당했던 역할이라면 이제는 사회변화를 주도하고 모두에게 개방된 </a:t>
            </a:r>
            <a:r>
              <a:rPr lang="ko-KR" altLang="en-US" sz="2400" dirty="0" err="1">
                <a:latin typeface="+mn-ea"/>
              </a:rPr>
              <a:t>광장으로서</a:t>
            </a:r>
            <a:r>
              <a:rPr lang="ko-KR" altLang="en-US" sz="2400" dirty="0">
                <a:latin typeface="+mn-ea"/>
              </a:rPr>
              <a:t> 대학이 재탄생해야 할 것입니다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altLang="ko-KR" sz="2400" dirty="0">
              <a:latin typeface="+mn-ea"/>
            </a:endParaRPr>
          </a:p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j-ea"/>
              </a:rPr>
              <a:t>한림은 정보가 흐르고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인재가 드나들며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새로운 미래가 설계되는 역동적인 교류의 장으로 거듭날 것입니다</a:t>
            </a:r>
            <a:r>
              <a:rPr lang="en-US" altLang="ko-KR" sz="2400" dirty="0">
                <a:latin typeface="+mj-ea"/>
              </a:rPr>
              <a:t>. </a:t>
            </a:r>
            <a:r>
              <a:rPr lang="ko-KR" altLang="en-US" sz="2400" dirty="0">
                <a:latin typeface="+mj-ea"/>
              </a:rPr>
              <a:t>한림은 춘천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강원도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대한민국을 넘어서 세계로 소통의 장을 확대하고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더 나아가서 인공지능으로 무장된 사이버 캠퍼스까지 확장될 것입니다</a:t>
            </a:r>
            <a:r>
              <a:rPr lang="en-US" altLang="ko-KR" sz="2400" dirty="0">
                <a:latin typeface="+mj-ea"/>
              </a:rPr>
              <a:t>. </a:t>
            </a:r>
            <a:r>
              <a:rPr lang="ko-KR" altLang="en-US" sz="2400" dirty="0">
                <a:latin typeface="+mj-ea"/>
              </a:rPr>
              <a:t>아직 나타나지 않은 새로운 직업과 학문에 대비한 유연한 교육시스템을 제공하여 </a:t>
            </a:r>
            <a:r>
              <a:rPr lang="ko-KR" altLang="en-US" sz="2400" dirty="0" err="1">
                <a:latin typeface="+mj-ea"/>
              </a:rPr>
              <a:t>재학생뿐만</a:t>
            </a:r>
            <a:r>
              <a:rPr lang="ko-KR" altLang="en-US" sz="2400" dirty="0">
                <a:latin typeface="+mj-ea"/>
              </a:rPr>
              <a:t> 아니라 일반 시민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예비 입학생도 자신의 역량을 발굴하고 키울 수 있도록 하겠습니다</a:t>
            </a:r>
            <a:r>
              <a:rPr lang="en-US" altLang="ko-KR" sz="2400" dirty="0">
                <a:latin typeface="+mj-ea"/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altLang="ko-KR" sz="2400" dirty="0">
              <a:latin typeface="+mj-ea"/>
            </a:endParaRPr>
          </a:p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과학기술이 </a:t>
            </a:r>
            <a:r>
              <a:rPr lang="ko-KR" altLang="en-US" sz="2400" dirty="0" err="1">
                <a:latin typeface="+mn-ea"/>
              </a:rPr>
              <a:t>문명변화를</a:t>
            </a:r>
            <a:r>
              <a:rPr lang="ko-KR" altLang="en-US" sz="2400" dirty="0">
                <a:latin typeface="+mn-ea"/>
              </a:rPr>
              <a:t> 주도하며 산업혁명의 주기가 점점 짧아지고 있습니다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그러나 이들이 가져온 물질적 풍요가 인간의 행복을 보장하기에는 부족합니다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전문화된 지식 외에도 균형 잡힌 가치관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우수한 소통능력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타인에 대한 배려가 반드시 필요합니다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이를 한림 교육철학의 기본으로 삼아 ‘구성원 모두가 행복한 </a:t>
            </a:r>
            <a:r>
              <a:rPr lang="ko-KR" altLang="en-US" sz="2400" dirty="0" err="1">
                <a:latin typeface="+mn-ea"/>
              </a:rPr>
              <a:t>한림대학교’를</a:t>
            </a:r>
            <a:r>
              <a:rPr lang="ko-KR" altLang="en-US" sz="2400" dirty="0">
                <a:latin typeface="+mn-ea"/>
              </a:rPr>
              <a:t> 향하여 나아갈 것입니다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2117913-2AA1-2687-2101-CFC008457FCF}"/>
              </a:ext>
            </a:extLst>
          </p:cNvPr>
          <p:cNvCxnSpPr/>
          <p:nvPr/>
        </p:nvCxnSpPr>
        <p:spPr>
          <a:xfrm>
            <a:off x="1835148" y="28151632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B00DB6D1-F54F-79E9-9A8B-2C30EBDB932C}"/>
              </a:ext>
            </a:extLst>
          </p:cNvPr>
          <p:cNvGrpSpPr/>
          <p:nvPr/>
        </p:nvGrpSpPr>
        <p:grpSpPr>
          <a:xfrm>
            <a:off x="1835148" y="7091362"/>
            <a:ext cx="8677277" cy="758547"/>
            <a:chOff x="1835148" y="7091362"/>
            <a:chExt cx="8677277" cy="758547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3F27921B-B541-7855-08DF-A63C497FBB33}"/>
                </a:ext>
              </a:extLst>
            </p:cNvPr>
            <p:cNvGrpSpPr/>
            <p:nvPr/>
          </p:nvGrpSpPr>
          <p:grpSpPr>
            <a:xfrm>
              <a:off x="4355872" y="7091362"/>
              <a:ext cx="3635829" cy="280943"/>
              <a:chOff x="4355872" y="7091362"/>
              <a:chExt cx="3635829" cy="280943"/>
            </a:xfrm>
          </p:grpSpPr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70E8F455-253B-4C33-7D3D-4861583B9FC2}"/>
                  </a:ext>
                </a:extLst>
              </p:cNvPr>
              <p:cNvSpPr/>
              <p:nvPr/>
            </p:nvSpPr>
            <p:spPr>
              <a:xfrm>
                <a:off x="4355872" y="7091362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DFEE6DB3-5FB2-7111-6D5A-A47356AEE890}"/>
                  </a:ext>
                </a:extLst>
              </p:cNvPr>
              <p:cNvSpPr/>
              <p:nvPr/>
            </p:nvSpPr>
            <p:spPr>
              <a:xfrm>
                <a:off x="7722347" y="7091362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9" name="왼쪽 대괄호 28">
              <a:extLst>
                <a:ext uri="{FF2B5EF4-FFF2-40B4-BE49-F238E27FC236}">
                  <a16:creationId xmlns:a16="http://schemas.microsoft.com/office/drawing/2014/main" id="{70A54B4B-78C3-8216-D62E-10384C0F10FD}"/>
                </a:ext>
              </a:extLst>
            </p:cNvPr>
            <p:cNvSpPr/>
            <p:nvPr/>
          </p:nvSpPr>
          <p:spPr>
            <a:xfrm rot="5400000">
              <a:off x="5973626" y="3233601"/>
              <a:ext cx="400321" cy="8677277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DAE69AD-35ED-4E66-9790-B1FC8E08E1C1}"/>
                </a:ext>
              </a:extLst>
            </p:cNvPr>
            <p:cNvSpPr/>
            <p:nvPr/>
          </p:nvSpPr>
          <p:spPr>
            <a:xfrm>
              <a:off x="4475135" y="7091362"/>
              <a:ext cx="3393542" cy="758547"/>
            </a:xfrm>
            <a:custGeom>
              <a:avLst/>
              <a:gdLst>
                <a:gd name="connsiteX0" fmla="*/ 2208943 w 2434589"/>
                <a:gd name="connsiteY0" fmla="*/ 576548 h 576548"/>
                <a:gd name="connsiteX1" fmla="*/ 225743 w 2434589"/>
                <a:gd name="connsiteY1" fmla="*/ 576548 h 576548"/>
                <a:gd name="connsiteX2" fmla="*/ 116681 w 2434589"/>
                <a:gd name="connsiteY2" fmla="*/ 488156 h 576548"/>
                <a:gd name="connsiteX3" fmla="*/ 0 w 2434589"/>
                <a:gd name="connsiteY3" fmla="*/ 0 h 576548"/>
                <a:gd name="connsiteX4" fmla="*/ 2434590 w 2434589"/>
                <a:gd name="connsiteY4" fmla="*/ 0 h 576548"/>
                <a:gd name="connsiteX5" fmla="*/ 2318004 w 2434589"/>
                <a:gd name="connsiteY5" fmla="*/ 488156 h 576548"/>
                <a:gd name="connsiteX6" fmla="*/ 2208943 w 2434589"/>
                <a:gd name="connsiteY6" fmla="*/ 576548 h 5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4589" h="576548">
                  <a:moveTo>
                    <a:pt x="2208943" y="576548"/>
                  </a:moveTo>
                  <a:lnTo>
                    <a:pt x="225743" y="576548"/>
                  </a:lnTo>
                  <a:cubicBezTo>
                    <a:pt x="174022" y="576548"/>
                    <a:pt x="129064" y="540068"/>
                    <a:pt x="116681" y="488156"/>
                  </a:cubicBezTo>
                  <a:lnTo>
                    <a:pt x="0" y="0"/>
                  </a:lnTo>
                  <a:lnTo>
                    <a:pt x="2434590" y="0"/>
                  </a:lnTo>
                  <a:lnTo>
                    <a:pt x="2318004" y="488156"/>
                  </a:lnTo>
                  <a:cubicBezTo>
                    <a:pt x="2305622" y="540068"/>
                    <a:pt x="2260569" y="576548"/>
                    <a:pt x="2208943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401EF9-E519-E8ED-A16C-5CC01CB2BF20}"/>
                </a:ext>
              </a:extLst>
            </p:cNvPr>
            <p:cNvSpPr txBox="1"/>
            <p:nvPr/>
          </p:nvSpPr>
          <p:spPr>
            <a:xfrm>
              <a:off x="4662580" y="7186200"/>
              <a:ext cx="3036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solidFill>
                    <a:schemeClr val="bg1"/>
                  </a:solidFill>
                  <a:latin typeface="+mn-ea"/>
                </a:rPr>
                <a:t>과제 목적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DCE8FD-E59E-9394-1A76-9D7BA18D87E3}"/>
              </a:ext>
            </a:extLst>
          </p:cNvPr>
          <p:cNvGrpSpPr/>
          <p:nvPr/>
        </p:nvGrpSpPr>
        <p:grpSpPr>
          <a:xfrm>
            <a:off x="1835148" y="17599374"/>
            <a:ext cx="8677277" cy="758547"/>
            <a:chOff x="1835148" y="16711883"/>
            <a:chExt cx="8677277" cy="758547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63C32D2-0A2E-B073-9E32-D15F25C322FB}"/>
                </a:ext>
              </a:extLst>
            </p:cNvPr>
            <p:cNvGrpSpPr/>
            <p:nvPr/>
          </p:nvGrpSpPr>
          <p:grpSpPr>
            <a:xfrm>
              <a:off x="4355872" y="16711883"/>
              <a:ext cx="3635829" cy="280943"/>
              <a:chOff x="4355872" y="16711883"/>
              <a:chExt cx="3635829" cy="280943"/>
            </a:xfrm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8A7F8A0C-207B-68C5-9538-4EEDDEDD0088}"/>
                  </a:ext>
                </a:extLst>
              </p:cNvPr>
              <p:cNvSpPr/>
              <p:nvPr/>
            </p:nvSpPr>
            <p:spPr>
              <a:xfrm>
                <a:off x="4355872" y="16711883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8A3B2854-90CB-340F-A6B0-8043D394A438}"/>
                  </a:ext>
                </a:extLst>
              </p:cNvPr>
              <p:cNvSpPr/>
              <p:nvPr/>
            </p:nvSpPr>
            <p:spPr>
              <a:xfrm>
                <a:off x="7722347" y="16711883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33" name="왼쪽 대괄호 32">
              <a:extLst>
                <a:ext uri="{FF2B5EF4-FFF2-40B4-BE49-F238E27FC236}">
                  <a16:creationId xmlns:a16="http://schemas.microsoft.com/office/drawing/2014/main" id="{967A9F29-8050-2B6F-6611-94F203DC74A0}"/>
                </a:ext>
              </a:extLst>
            </p:cNvPr>
            <p:cNvSpPr/>
            <p:nvPr/>
          </p:nvSpPr>
          <p:spPr>
            <a:xfrm rot="5400000">
              <a:off x="5973626" y="12854122"/>
              <a:ext cx="400321" cy="8677277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23C8EA5D-57FF-011A-62CF-71EFC9B10298}"/>
                </a:ext>
              </a:extLst>
            </p:cNvPr>
            <p:cNvSpPr/>
            <p:nvPr/>
          </p:nvSpPr>
          <p:spPr>
            <a:xfrm>
              <a:off x="4475135" y="16711883"/>
              <a:ext cx="3393542" cy="758547"/>
            </a:xfrm>
            <a:custGeom>
              <a:avLst/>
              <a:gdLst>
                <a:gd name="connsiteX0" fmla="*/ 2208943 w 2434589"/>
                <a:gd name="connsiteY0" fmla="*/ 576548 h 576548"/>
                <a:gd name="connsiteX1" fmla="*/ 225743 w 2434589"/>
                <a:gd name="connsiteY1" fmla="*/ 576548 h 576548"/>
                <a:gd name="connsiteX2" fmla="*/ 116681 w 2434589"/>
                <a:gd name="connsiteY2" fmla="*/ 488156 h 576548"/>
                <a:gd name="connsiteX3" fmla="*/ 0 w 2434589"/>
                <a:gd name="connsiteY3" fmla="*/ 0 h 576548"/>
                <a:gd name="connsiteX4" fmla="*/ 2434590 w 2434589"/>
                <a:gd name="connsiteY4" fmla="*/ 0 h 576548"/>
                <a:gd name="connsiteX5" fmla="*/ 2318004 w 2434589"/>
                <a:gd name="connsiteY5" fmla="*/ 488156 h 576548"/>
                <a:gd name="connsiteX6" fmla="*/ 2208943 w 2434589"/>
                <a:gd name="connsiteY6" fmla="*/ 576548 h 5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4589" h="576548">
                  <a:moveTo>
                    <a:pt x="2208943" y="576548"/>
                  </a:moveTo>
                  <a:lnTo>
                    <a:pt x="225743" y="576548"/>
                  </a:lnTo>
                  <a:cubicBezTo>
                    <a:pt x="174022" y="576548"/>
                    <a:pt x="129064" y="540068"/>
                    <a:pt x="116681" y="488156"/>
                  </a:cubicBezTo>
                  <a:lnTo>
                    <a:pt x="0" y="0"/>
                  </a:lnTo>
                  <a:lnTo>
                    <a:pt x="2434590" y="0"/>
                  </a:lnTo>
                  <a:lnTo>
                    <a:pt x="2318004" y="488156"/>
                  </a:lnTo>
                  <a:cubicBezTo>
                    <a:pt x="2305622" y="540068"/>
                    <a:pt x="2260569" y="576548"/>
                    <a:pt x="2208943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224D1F-F7DE-A9FB-992E-F970FFFA6ACA}"/>
                </a:ext>
              </a:extLst>
            </p:cNvPr>
            <p:cNvSpPr txBox="1"/>
            <p:nvPr/>
          </p:nvSpPr>
          <p:spPr>
            <a:xfrm>
              <a:off x="4662580" y="16805402"/>
              <a:ext cx="3036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solidFill>
                    <a:schemeClr val="bg1"/>
                  </a:solidFill>
                  <a:latin typeface="+mn-ea"/>
                </a:rPr>
                <a:t>과제 내용</a:t>
              </a:r>
            </a:p>
          </p:txBody>
        </p: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8037661-769B-1BC7-73B5-1D5662125DD8}"/>
              </a:ext>
            </a:extLst>
          </p:cNvPr>
          <p:cNvCxnSpPr>
            <a:cxnSpLocks/>
          </p:cNvCxnSpPr>
          <p:nvPr/>
        </p:nvCxnSpPr>
        <p:spPr>
          <a:xfrm>
            <a:off x="11147423" y="15009544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7947C1-77DC-447D-18A4-84CFF87F47E8}"/>
              </a:ext>
            </a:extLst>
          </p:cNvPr>
          <p:cNvSpPr txBox="1"/>
          <p:nvPr/>
        </p:nvSpPr>
        <p:spPr>
          <a:xfrm>
            <a:off x="11472067" y="17090796"/>
            <a:ext cx="80279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한림대학교 </a:t>
            </a:r>
            <a:r>
              <a:rPr lang="en-US" altLang="ko-KR" sz="2400" dirty="0">
                <a:latin typeface="+mn-ea"/>
              </a:rPr>
              <a:t>30</a:t>
            </a:r>
            <a:r>
              <a:rPr lang="ko-KR" altLang="en-US" sz="2400" dirty="0">
                <a:latin typeface="+mn-ea"/>
              </a:rPr>
              <a:t>년사</a:t>
            </a:r>
            <a:endParaRPr lang="en-US" altLang="ko-KR" sz="2400" dirty="0">
              <a:latin typeface="+mn-ea"/>
            </a:endParaRPr>
          </a:p>
          <a:p>
            <a:pPr algn="just">
              <a:spcBef>
                <a:spcPts val="1200"/>
              </a:spcBef>
            </a:pPr>
            <a:endParaRPr lang="en-US" altLang="ko-KR" sz="2400" dirty="0">
              <a:latin typeface="+mn-ea"/>
            </a:endParaRPr>
          </a:p>
          <a:p>
            <a:pPr algn="just">
              <a:spcBef>
                <a:spcPts val="1200"/>
              </a:spcBef>
            </a:pPr>
            <a:r>
              <a:rPr lang="en-US" altLang="ko-KR" sz="2400" dirty="0">
                <a:latin typeface="+mn-ea"/>
              </a:rPr>
              <a:t>30</a:t>
            </a:r>
            <a:r>
              <a:rPr lang="ko-KR" altLang="en-US" sz="2400" dirty="0" err="1">
                <a:latin typeface="+mn-ea"/>
              </a:rPr>
              <a:t>년전</a:t>
            </a:r>
            <a:r>
              <a:rPr lang="ko-KR" altLang="en-US" sz="2400" dirty="0">
                <a:latin typeface="+mn-ea"/>
              </a:rPr>
              <a:t> 이곳 </a:t>
            </a:r>
            <a:r>
              <a:rPr lang="ko-KR" altLang="en-US" sz="2400" dirty="0" err="1">
                <a:latin typeface="+mn-ea"/>
              </a:rPr>
              <a:t>봉의산</a:t>
            </a:r>
            <a:r>
              <a:rPr lang="ko-KR" altLang="en-US" sz="2400" dirty="0">
                <a:latin typeface="+mn-ea"/>
              </a:rPr>
              <a:t> 자락에 ‘작지만 강한 </a:t>
            </a:r>
            <a:r>
              <a:rPr lang="ko-KR" altLang="en-US" sz="2400" dirty="0" err="1">
                <a:latin typeface="+mn-ea"/>
              </a:rPr>
              <a:t>대학’이라는</a:t>
            </a:r>
            <a:r>
              <a:rPr lang="ko-KR" altLang="en-US" sz="2400" dirty="0">
                <a:latin typeface="+mn-ea"/>
              </a:rPr>
              <a:t> 꿈을 품고 설립된 한림이 이제 명문 사학으로 거듭나 ‘작지만 강한 세계적 대학’ </a:t>
            </a:r>
            <a:r>
              <a:rPr lang="ko-KR" altLang="en-US" sz="2400" dirty="0" err="1">
                <a:latin typeface="+mn-ea"/>
              </a:rPr>
              <a:t>으로의도약을</a:t>
            </a:r>
            <a:r>
              <a:rPr lang="ko-KR" altLang="en-US" sz="2400" dirty="0">
                <a:latin typeface="+mn-ea"/>
              </a:rPr>
              <a:t> 시작하였습니다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개교 </a:t>
            </a:r>
            <a:r>
              <a:rPr lang="en-US" altLang="ko-KR" sz="2400" dirty="0">
                <a:latin typeface="+mn-ea"/>
              </a:rPr>
              <a:t>30</a:t>
            </a:r>
            <a:r>
              <a:rPr lang="ko-KR" altLang="en-US" sz="2400" dirty="0">
                <a:latin typeface="+mn-ea"/>
              </a:rPr>
              <a:t>주년을 맞이한 지금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우리는 설립자의 </a:t>
            </a:r>
            <a:r>
              <a:rPr lang="ko-KR" altLang="en-US" sz="2400" dirty="0" err="1">
                <a:latin typeface="+mn-ea"/>
              </a:rPr>
              <a:t>건학이념에</a:t>
            </a:r>
            <a:r>
              <a:rPr lang="ko-KR" altLang="en-US" sz="2400" dirty="0">
                <a:latin typeface="+mn-ea"/>
              </a:rPr>
              <a:t> 부응하여 왔는지를 점검하고 앞으로 다가올 새로운 도전들을 슬기롭게 헤쳐 나가는 데에 도움이 될 수 있도록 학교의역사를 올바로 이해하고 미래의 발전에 관한 비전을 </a:t>
            </a:r>
            <a:r>
              <a:rPr lang="ko-KR" altLang="en-US" sz="2400" dirty="0" err="1">
                <a:latin typeface="+mn-ea"/>
              </a:rPr>
              <a:t>수립하여야할</a:t>
            </a:r>
            <a:r>
              <a:rPr lang="ko-KR" altLang="en-US" sz="2400" dirty="0">
                <a:latin typeface="+mn-ea"/>
              </a:rPr>
              <a:t> 때입니다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이에 ‘한림대학교</a:t>
            </a:r>
            <a:r>
              <a:rPr lang="en-US" altLang="ko-KR" sz="2400" dirty="0">
                <a:latin typeface="+mn-ea"/>
              </a:rPr>
              <a:t>30</a:t>
            </a:r>
            <a:r>
              <a:rPr lang="ko-KR" altLang="en-US" sz="2400" dirty="0">
                <a:latin typeface="+mn-ea"/>
              </a:rPr>
              <a:t>년사’ 가 우리의 현재를 가늠하고 미래를 모색하는 소중한 자산이 될 것이라 생각합니다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970AC7-7C7C-F6E1-5DE4-3CF649F040CD}"/>
              </a:ext>
            </a:extLst>
          </p:cNvPr>
          <p:cNvCxnSpPr>
            <a:cxnSpLocks/>
          </p:cNvCxnSpPr>
          <p:nvPr/>
        </p:nvCxnSpPr>
        <p:spPr>
          <a:xfrm>
            <a:off x="11147423" y="25021519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7F92C8-1802-FBBB-2636-1E50377CFD7F}"/>
              </a:ext>
            </a:extLst>
          </p:cNvPr>
          <p:cNvGrpSpPr/>
          <p:nvPr/>
        </p:nvGrpSpPr>
        <p:grpSpPr>
          <a:xfrm>
            <a:off x="11147423" y="15814746"/>
            <a:ext cx="8677277" cy="758547"/>
            <a:chOff x="11147423" y="12858799"/>
            <a:chExt cx="8677277" cy="758547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175E2183-6D46-3E3A-B5F6-8356CF56E107}"/>
                </a:ext>
              </a:extLst>
            </p:cNvPr>
            <p:cNvGrpSpPr/>
            <p:nvPr/>
          </p:nvGrpSpPr>
          <p:grpSpPr>
            <a:xfrm>
              <a:off x="12753023" y="12863261"/>
              <a:ext cx="5466076" cy="280943"/>
              <a:chOff x="12753023" y="12863261"/>
              <a:chExt cx="5466076" cy="280943"/>
            </a:xfrm>
          </p:grpSpPr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D0E6BE48-7052-66BD-117C-EE407A99E06C}"/>
                  </a:ext>
                </a:extLst>
              </p:cNvPr>
              <p:cNvSpPr/>
              <p:nvPr/>
            </p:nvSpPr>
            <p:spPr>
              <a:xfrm>
                <a:off x="12753023" y="12863261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86FE100-21C2-F681-67FA-0E15FE1F0AA6}"/>
                  </a:ext>
                </a:extLst>
              </p:cNvPr>
              <p:cNvSpPr/>
              <p:nvPr/>
            </p:nvSpPr>
            <p:spPr>
              <a:xfrm>
                <a:off x="17949745" y="12863261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E26EDA88-F83B-B557-F6BC-51E6D7F1AD86}"/>
                </a:ext>
              </a:extLst>
            </p:cNvPr>
            <p:cNvSpPr/>
            <p:nvPr/>
          </p:nvSpPr>
          <p:spPr>
            <a:xfrm rot="5400000">
              <a:off x="15285901" y="9005500"/>
              <a:ext cx="400321" cy="8677277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그래픽 30">
              <a:extLst>
                <a:ext uri="{FF2B5EF4-FFF2-40B4-BE49-F238E27FC236}">
                  <a16:creationId xmlns:a16="http://schemas.microsoft.com/office/drawing/2014/main" id="{2E13C5D7-82CD-9672-7C86-01123FB0F523}"/>
                </a:ext>
              </a:extLst>
            </p:cNvPr>
            <p:cNvSpPr/>
            <p:nvPr/>
          </p:nvSpPr>
          <p:spPr>
            <a:xfrm>
              <a:off x="12868823" y="12858799"/>
              <a:ext cx="5234476" cy="758547"/>
            </a:xfrm>
            <a:custGeom>
              <a:avLst/>
              <a:gdLst>
                <a:gd name="connsiteX0" fmla="*/ 3692557 w 3918203"/>
                <a:gd name="connsiteY0" fmla="*/ 576548 h 576548"/>
                <a:gd name="connsiteX1" fmla="*/ 225647 w 3918203"/>
                <a:gd name="connsiteY1" fmla="*/ 576548 h 576548"/>
                <a:gd name="connsiteX2" fmla="*/ 116586 w 3918203"/>
                <a:gd name="connsiteY2" fmla="*/ 488156 h 576548"/>
                <a:gd name="connsiteX3" fmla="*/ 0 w 3918203"/>
                <a:gd name="connsiteY3" fmla="*/ 0 h 576548"/>
                <a:gd name="connsiteX4" fmla="*/ 3918204 w 3918203"/>
                <a:gd name="connsiteY4" fmla="*/ 0 h 576548"/>
                <a:gd name="connsiteX5" fmla="*/ 3801618 w 3918203"/>
                <a:gd name="connsiteY5" fmla="*/ 488156 h 576548"/>
                <a:gd name="connsiteX6" fmla="*/ 3692557 w 3918203"/>
                <a:gd name="connsiteY6" fmla="*/ 576548 h 5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8203" h="576548">
                  <a:moveTo>
                    <a:pt x="3692557" y="576548"/>
                  </a:moveTo>
                  <a:lnTo>
                    <a:pt x="225647" y="576548"/>
                  </a:lnTo>
                  <a:cubicBezTo>
                    <a:pt x="173927" y="576548"/>
                    <a:pt x="128969" y="540068"/>
                    <a:pt x="116586" y="488156"/>
                  </a:cubicBezTo>
                  <a:lnTo>
                    <a:pt x="0" y="0"/>
                  </a:lnTo>
                  <a:lnTo>
                    <a:pt x="3918204" y="0"/>
                  </a:lnTo>
                  <a:lnTo>
                    <a:pt x="3801618" y="488156"/>
                  </a:lnTo>
                  <a:cubicBezTo>
                    <a:pt x="3789236" y="540068"/>
                    <a:pt x="3744278" y="576548"/>
                    <a:pt x="3692557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3EC707-21D5-2F31-71DA-8C1565A6CF83}"/>
                </a:ext>
              </a:extLst>
            </p:cNvPr>
            <p:cNvSpPr txBox="1"/>
            <p:nvPr/>
          </p:nvSpPr>
          <p:spPr>
            <a:xfrm>
              <a:off x="13087892" y="12959320"/>
              <a:ext cx="48465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spc="-100" dirty="0">
                  <a:solidFill>
                    <a:schemeClr val="bg1"/>
                  </a:solidFill>
                  <a:latin typeface="+mn-ea"/>
                </a:rPr>
                <a:t>활용방안 및 기대효과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3B68FF3C-434D-8E0C-406A-7B5721781D79}"/>
              </a:ext>
            </a:extLst>
          </p:cNvPr>
          <p:cNvSpPr/>
          <p:nvPr/>
        </p:nvSpPr>
        <p:spPr>
          <a:xfrm>
            <a:off x="2471964" y="2565882"/>
            <a:ext cx="847725" cy="847725"/>
          </a:xfrm>
          <a:prstGeom prst="ellipse">
            <a:avLst/>
          </a:prstGeom>
          <a:solidFill>
            <a:srgbClr val="A09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7149A9-3E2E-3F6A-6767-E1745C6557FA}"/>
              </a:ext>
            </a:extLst>
          </p:cNvPr>
          <p:cNvSpPr txBox="1"/>
          <p:nvPr/>
        </p:nvSpPr>
        <p:spPr>
          <a:xfrm>
            <a:off x="2519815" y="2613593"/>
            <a:ext cx="771072" cy="72408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4800" b="1" spc="-150" dirty="0">
                <a:solidFill>
                  <a:schemeClr val="bg1"/>
                </a:solidFill>
                <a:latin typeface="+mn-ea"/>
              </a:rPr>
              <a:t>01</a:t>
            </a:r>
            <a:endParaRPr lang="ko-KR" altLang="en-US" sz="4800" b="1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FAFE85-FE6D-EA66-1569-DE99FC125D1C}"/>
              </a:ext>
            </a:extLst>
          </p:cNvPr>
          <p:cNvSpPr txBox="1"/>
          <p:nvPr/>
        </p:nvSpPr>
        <p:spPr>
          <a:xfrm>
            <a:off x="11447463" y="7372079"/>
            <a:ext cx="8027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한림대학교가 성장하고 발전하는데 여러분의 관심과 지원이 큰 힘이 될 것입니다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적극적인 참여와 협력을 부탁드립니다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293C2C-8E71-853C-9BD0-D5ECD08EE497}"/>
              </a:ext>
            </a:extLst>
          </p:cNvPr>
          <p:cNvSpPr txBox="1"/>
          <p:nvPr/>
        </p:nvSpPr>
        <p:spPr>
          <a:xfrm>
            <a:off x="2305108" y="3487497"/>
            <a:ext cx="11410892" cy="25561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8000" b="1" dirty="0">
                <a:solidFill>
                  <a:srgbClr val="002060"/>
                </a:solidFill>
                <a:latin typeface="+mn-ea"/>
              </a:rPr>
              <a:t>샘플 한림대학교</a:t>
            </a:r>
            <a:endParaRPr lang="en-US" altLang="ko-KR" sz="8000" b="1" dirty="0">
              <a:solidFill>
                <a:srgbClr val="002060"/>
              </a:solidFill>
              <a:latin typeface="+mn-ea"/>
            </a:endParaRPr>
          </a:p>
          <a:p>
            <a:r>
              <a:rPr lang="ko-KR" altLang="en-US" sz="8000" b="1" dirty="0">
                <a:solidFill>
                  <a:srgbClr val="002060"/>
                </a:solidFill>
                <a:latin typeface="+mn-ea"/>
              </a:rPr>
              <a:t>인사말</a:t>
            </a:r>
            <a:r>
              <a:rPr lang="en-US" altLang="ko-KR" sz="8000" b="1" dirty="0">
                <a:solidFill>
                  <a:srgbClr val="002060"/>
                </a:solidFill>
                <a:latin typeface="+mn-ea"/>
              </a:rPr>
              <a:t>/</a:t>
            </a:r>
            <a:r>
              <a:rPr lang="ko-KR" altLang="en-US" sz="8000" b="1" dirty="0">
                <a:solidFill>
                  <a:srgbClr val="002060"/>
                </a:solidFill>
                <a:latin typeface="+mn-ea"/>
              </a:rPr>
              <a:t>프로필</a:t>
            </a:r>
            <a:endParaRPr lang="en-US" altLang="ko-KR" sz="8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E5E85C-A2CF-A22E-F31F-863BC1A9112F}"/>
              </a:ext>
            </a:extLst>
          </p:cNvPr>
          <p:cNvSpPr txBox="1"/>
          <p:nvPr/>
        </p:nvSpPr>
        <p:spPr>
          <a:xfrm>
            <a:off x="16171595" y="3551330"/>
            <a:ext cx="4478605" cy="2236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소프트웨어캡스톤디자인 </a:t>
            </a:r>
            <a:endParaRPr lang="en-US" altLang="ko-KR" sz="2400" spc="-15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한림</a:t>
            </a:r>
            <a:endParaRPr lang="en-US" altLang="ko-KR" sz="24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홍길동</a:t>
            </a:r>
            <a:r>
              <a:rPr lang="en-US" altLang="ko-KR" sz="2400" spc="-150" dirty="0">
                <a:latin typeface="+mn-ea"/>
              </a:rPr>
              <a:t>, </a:t>
            </a:r>
            <a:r>
              <a:rPr lang="ko-KR" altLang="en-US" sz="2400" spc="-150" dirty="0">
                <a:latin typeface="+mn-ea"/>
              </a:rPr>
              <a:t>홍길동</a:t>
            </a:r>
            <a:r>
              <a:rPr lang="en-US" altLang="ko-KR" sz="2400" spc="-150" dirty="0">
                <a:latin typeface="+mn-ea"/>
              </a:rPr>
              <a:t>, </a:t>
            </a:r>
            <a:r>
              <a:rPr lang="ko-KR" altLang="en-US" sz="2400" spc="-150" dirty="0">
                <a:latin typeface="+mn-ea"/>
              </a:rPr>
              <a:t>홍길동</a:t>
            </a: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팀 지도 </a:t>
            </a:r>
            <a:r>
              <a:rPr lang="ko-KR" altLang="en-US" sz="2400" spc="-150" dirty="0" err="1">
                <a:latin typeface="+mn-ea"/>
              </a:rPr>
              <a:t>교수명</a:t>
            </a:r>
            <a:endParaRPr lang="ko-KR" altLang="en-US" sz="2400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sz="2400" spc="-150" dirty="0">
              <a:latin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F37666-5DAF-D7EA-5AC6-53FBC196BDE7}"/>
              </a:ext>
            </a:extLst>
          </p:cNvPr>
          <p:cNvSpPr/>
          <p:nvPr/>
        </p:nvSpPr>
        <p:spPr>
          <a:xfrm>
            <a:off x="1844675" y="2011680"/>
            <a:ext cx="315117" cy="3884295"/>
          </a:xfrm>
          <a:prstGeom prst="rect">
            <a:avLst/>
          </a:prstGeom>
          <a:solidFill>
            <a:srgbClr val="A09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2F0AA4C8-3F0E-E6A2-6199-1914DB4A1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78941" y="13645016"/>
            <a:ext cx="5304147" cy="296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ABEF8E58-08F2-F4F7-80D1-E30183206B45}"/>
              </a:ext>
            </a:extLst>
          </p:cNvPr>
          <p:cNvGrpSpPr/>
          <p:nvPr/>
        </p:nvGrpSpPr>
        <p:grpSpPr>
          <a:xfrm>
            <a:off x="12969763" y="9024257"/>
            <a:ext cx="5256434" cy="5353050"/>
            <a:chOff x="12434666" y="22088774"/>
            <a:chExt cx="2915093" cy="1934995"/>
          </a:xfrm>
        </p:grpSpPr>
        <p:pic>
          <p:nvPicPr>
            <p:cNvPr id="51" name="Picture 4">
              <a:extLst>
                <a:ext uri="{FF2B5EF4-FFF2-40B4-BE49-F238E27FC236}">
                  <a16:creationId xmlns:a16="http://schemas.microsoft.com/office/drawing/2014/main" id="{8D6BDA8E-04B5-FC82-C373-E76F0A901F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2434666" y="22701096"/>
              <a:ext cx="1268633" cy="710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5">
              <a:extLst>
                <a:ext uri="{FF2B5EF4-FFF2-40B4-BE49-F238E27FC236}">
                  <a16:creationId xmlns:a16="http://schemas.microsoft.com/office/drawing/2014/main" id="{1D45B40F-16F4-8855-098D-EC1796C8F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976122" y="22088774"/>
              <a:ext cx="1373637" cy="19349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2878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B79D91A-3250-C432-186D-4B1F1C3553F8}"/>
              </a:ext>
            </a:extLst>
          </p:cNvPr>
          <p:cNvSpPr txBox="1"/>
          <p:nvPr/>
        </p:nvSpPr>
        <p:spPr>
          <a:xfrm>
            <a:off x="2159000" y="8279823"/>
            <a:ext cx="1728152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한림대학교 홈페이지를 방문해 주신 여러분 반갑습니다</a:t>
            </a:r>
            <a:r>
              <a:rPr lang="en-US" altLang="ko-KR" sz="2400" dirty="0">
                <a:latin typeface="+mn-ea"/>
              </a:rPr>
              <a:t>.</a:t>
            </a:r>
            <a:r>
              <a:rPr lang="ko-KR" altLang="en-US" sz="2400" dirty="0">
                <a:latin typeface="+mn-ea"/>
              </a:rPr>
              <a:t/>
            </a:r>
            <a:br>
              <a:rPr lang="ko-KR" altLang="en-US" sz="2400" dirty="0">
                <a:latin typeface="+mn-ea"/>
              </a:rPr>
            </a:br>
            <a:r>
              <a:rPr lang="ko-KR" altLang="en-US" sz="2400" dirty="0">
                <a:latin typeface="+mn-ea"/>
              </a:rPr>
              <a:t> </a:t>
            </a:r>
            <a:br>
              <a:rPr lang="ko-KR" altLang="en-US" sz="2400" dirty="0">
                <a:latin typeface="+mn-ea"/>
              </a:rPr>
            </a:br>
            <a:r>
              <a:rPr lang="ko-KR" altLang="en-US" sz="2400" dirty="0">
                <a:latin typeface="+mn-ea"/>
              </a:rPr>
              <a:t>한림대학교는 새로운 시대의 성숙한 인재를 키우는 사학의 명문으로 거듭나고 있습니다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>
              <a:spcBef>
                <a:spcPts val="1200"/>
              </a:spcBef>
            </a:pPr>
            <a:r>
              <a:rPr lang="en-US" altLang="ko-KR" sz="2400" dirty="0">
                <a:latin typeface="+mn-ea"/>
              </a:rPr>
              <a:t>1982</a:t>
            </a:r>
            <a:r>
              <a:rPr lang="ko-KR" altLang="en-US" sz="2400" dirty="0">
                <a:latin typeface="+mn-ea"/>
              </a:rPr>
              <a:t>년 개교 이래 훌륭한 학생을 배출하는 선도대학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사회적 책임을 다하는 대학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혁신을 주도하는 대학을 목표로 노력하여 괄목할만한 성과를 이루고 있습니다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2ACFE3-A8EB-2C8B-FC73-BCA82A9CB03B}"/>
              </a:ext>
            </a:extLst>
          </p:cNvPr>
          <p:cNvSpPr txBox="1"/>
          <p:nvPr/>
        </p:nvSpPr>
        <p:spPr>
          <a:xfrm>
            <a:off x="2159001" y="14250180"/>
            <a:ext cx="1728152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대학의 사명은 더 이상 지식만을 전수하는 상아탑이 아닙니다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en-US" altLang="ko-KR" sz="2400" dirty="0">
                <a:latin typeface="+mn-ea"/>
              </a:rPr>
              <a:t>‘</a:t>
            </a:r>
            <a:r>
              <a:rPr lang="ko-KR" altLang="en-US" sz="2400" dirty="0">
                <a:latin typeface="+mn-ea"/>
              </a:rPr>
              <a:t>울타리가 없이 누구나 쉽게 접근하는 사회적 </a:t>
            </a:r>
            <a:r>
              <a:rPr lang="ko-KR" altLang="en-US" sz="2400" dirty="0" err="1">
                <a:latin typeface="+mn-ea"/>
              </a:rPr>
              <a:t>플랫폼’으로</a:t>
            </a:r>
            <a:r>
              <a:rPr lang="ko-KR" altLang="en-US" sz="2400" dirty="0">
                <a:latin typeface="+mn-ea"/>
              </a:rPr>
              <a:t> 동작해야만 합니다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n-ea"/>
              </a:rPr>
              <a:t>교육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연구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산학협동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봉사가 과거의 대학이 담당했던 역할이라면 이제는 사회변화를 주도하고 모두에게 개방된 </a:t>
            </a:r>
            <a:r>
              <a:rPr lang="ko-KR" altLang="en-US" sz="2400" dirty="0" err="1">
                <a:latin typeface="+mn-ea"/>
              </a:rPr>
              <a:t>광장으로서</a:t>
            </a:r>
            <a:r>
              <a:rPr lang="ko-KR" altLang="en-US" sz="2400" dirty="0">
                <a:latin typeface="+mn-ea"/>
              </a:rPr>
              <a:t> 대학이 재탄생해야 할 것입니다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E84A13D-7D4F-C2EB-7C8B-72F0E1B7058A}"/>
              </a:ext>
            </a:extLst>
          </p:cNvPr>
          <p:cNvCxnSpPr/>
          <p:nvPr/>
        </p:nvCxnSpPr>
        <p:spPr>
          <a:xfrm>
            <a:off x="1835148" y="12382500"/>
            <a:ext cx="1796574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2117913-2AA1-2687-2101-CFC008457FCF}"/>
              </a:ext>
            </a:extLst>
          </p:cNvPr>
          <p:cNvCxnSpPr/>
          <p:nvPr/>
        </p:nvCxnSpPr>
        <p:spPr>
          <a:xfrm>
            <a:off x="1835148" y="21885066"/>
            <a:ext cx="1796574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E821C6F5-9EF4-23F6-034D-06ECEE05BD3C}"/>
              </a:ext>
            </a:extLst>
          </p:cNvPr>
          <p:cNvGrpSpPr/>
          <p:nvPr/>
        </p:nvGrpSpPr>
        <p:grpSpPr>
          <a:xfrm>
            <a:off x="1835149" y="7095389"/>
            <a:ext cx="17965739" cy="758547"/>
            <a:chOff x="1835149" y="7095389"/>
            <a:chExt cx="17965739" cy="758547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56E5755-B749-FA6E-EF6E-EA8ECBEFC0B4}"/>
                </a:ext>
              </a:extLst>
            </p:cNvPr>
            <p:cNvGrpSpPr/>
            <p:nvPr/>
          </p:nvGrpSpPr>
          <p:grpSpPr>
            <a:xfrm>
              <a:off x="8964385" y="7095389"/>
              <a:ext cx="3635829" cy="280943"/>
              <a:chOff x="4355872" y="7091362"/>
              <a:chExt cx="3635829" cy="280943"/>
            </a:xfrm>
          </p:grpSpPr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E5DBCFB9-FB61-7BF2-0131-5A5BAB360374}"/>
                  </a:ext>
                </a:extLst>
              </p:cNvPr>
              <p:cNvSpPr/>
              <p:nvPr/>
            </p:nvSpPr>
            <p:spPr>
              <a:xfrm>
                <a:off x="4355872" y="7091362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C2E329C7-7384-8D7B-611B-87FAD63325DE}"/>
                  </a:ext>
                </a:extLst>
              </p:cNvPr>
              <p:cNvSpPr/>
              <p:nvPr/>
            </p:nvSpPr>
            <p:spPr>
              <a:xfrm>
                <a:off x="7722347" y="7091362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9" name="왼쪽 대괄호 28">
              <a:extLst>
                <a:ext uri="{FF2B5EF4-FFF2-40B4-BE49-F238E27FC236}">
                  <a16:creationId xmlns:a16="http://schemas.microsoft.com/office/drawing/2014/main" id="{70A54B4B-78C3-8216-D62E-10384C0F10FD}"/>
                </a:ext>
              </a:extLst>
            </p:cNvPr>
            <p:cNvSpPr/>
            <p:nvPr/>
          </p:nvSpPr>
          <p:spPr>
            <a:xfrm rot="5400000">
              <a:off x="10617858" y="-1410630"/>
              <a:ext cx="400321" cy="17965739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4D7C0C59-2951-29E8-2F37-3A40C9901BA1}"/>
                </a:ext>
              </a:extLst>
            </p:cNvPr>
            <p:cNvSpPr/>
            <p:nvPr/>
          </p:nvSpPr>
          <p:spPr>
            <a:xfrm>
              <a:off x="9083648" y="7095389"/>
              <a:ext cx="3393542" cy="758547"/>
            </a:xfrm>
            <a:custGeom>
              <a:avLst/>
              <a:gdLst>
                <a:gd name="connsiteX0" fmla="*/ 2208943 w 2434589"/>
                <a:gd name="connsiteY0" fmla="*/ 576548 h 576548"/>
                <a:gd name="connsiteX1" fmla="*/ 225743 w 2434589"/>
                <a:gd name="connsiteY1" fmla="*/ 576548 h 576548"/>
                <a:gd name="connsiteX2" fmla="*/ 116681 w 2434589"/>
                <a:gd name="connsiteY2" fmla="*/ 488156 h 576548"/>
                <a:gd name="connsiteX3" fmla="*/ 0 w 2434589"/>
                <a:gd name="connsiteY3" fmla="*/ 0 h 576548"/>
                <a:gd name="connsiteX4" fmla="*/ 2434590 w 2434589"/>
                <a:gd name="connsiteY4" fmla="*/ 0 h 576548"/>
                <a:gd name="connsiteX5" fmla="*/ 2318004 w 2434589"/>
                <a:gd name="connsiteY5" fmla="*/ 488156 h 576548"/>
                <a:gd name="connsiteX6" fmla="*/ 2208943 w 2434589"/>
                <a:gd name="connsiteY6" fmla="*/ 576548 h 5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4589" h="576548">
                  <a:moveTo>
                    <a:pt x="2208943" y="576548"/>
                  </a:moveTo>
                  <a:lnTo>
                    <a:pt x="225743" y="576548"/>
                  </a:lnTo>
                  <a:cubicBezTo>
                    <a:pt x="174022" y="576548"/>
                    <a:pt x="129064" y="540068"/>
                    <a:pt x="116681" y="488156"/>
                  </a:cubicBezTo>
                  <a:lnTo>
                    <a:pt x="0" y="0"/>
                  </a:lnTo>
                  <a:lnTo>
                    <a:pt x="2434590" y="0"/>
                  </a:lnTo>
                  <a:lnTo>
                    <a:pt x="2318004" y="488156"/>
                  </a:lnTo>
                  <a:cubicBezTo>
                    <a:pt x="2305622" y="540068"/>
                    <a:pt x="2260569" y="576548"/>
                    <a:pt x="2208943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257BE1-6834-CECF-303F-FE4EB6179A22}"/>
                </a:ext>
              </a:extLst>
            </p:cNvPr>
            <p:cNvSpPr txBox="1"/>
            <p:nvPr/>
          </p:nvSpPr>
          <p:spPr>
            <a:xfrm>
              <a:off x="9271093" y="7190227"/>
              <a:ext cx="3036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solidFill>
                    <a:schemeClr val="bg1"/>
                  </a:solidFill>
                  <a:latin typeface="+mn-ea"/>
                </a:rPr>
                <a:t>과제 목적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104F792-9FED-82F0-821F-60F5AFF15FC9}"/>
              </a:ext>
            </a:extLst>
          </p:cNvPr>
          <p:cNvGrpSpPr/>
          <p:nvPr/>
        </p:nvGrpSpPr>
        <p:grpSpPr>
          <a:xfrm>
            <a:off x="1835149" y="13028475"/>
            <a:ext cx="17965739" cy="758547"/>
            <a:chOff x="1835149" y="13028475"/>
            <a:chExt cx="17965739" cy="758547"/>
          </a:xfrm>
        </p:grpSpPr>
        <p:sp>
          <p:nvSpPr>
            <p:cNvPr id="33" name="왼쪽 대괄호 32">
              <a:extLst>
                <a:ext uri="{FF2B5EF4-FFF2-40B4-BE49-F238E27FC236}">
                  <a16:creationId xmlns:a16="http://schemas.microsoft.com/office/drawing/2014/main" id="{967A9F29-8050-2B6F-6611-94F203DC74A0}"/>
                </a:ext>
              </a:extLst>
            </p:cNvPr>
            <p:cNvSpPr/>
            <p:nvPr/>
          </p:nvSpPr>
          <p:spPr>
            <a:xfrm rot="5400000">
              <a:off x="10617858" y="4524391"/>
              <a:ext cx="400321" cy="17965739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6CC363CF-11BD-303A-5199-456AEE9C5E0E}"/>
                </a:ext>
              </a:extLst>
            </p:cNvPr>
            <p:cNvGrpSpPr/>
            <p:nvPr/>
          </p:nvGrpSpPr>
          <p:grpSpPr>
            <a:xfrm>
              <a:off x="8964385" y="13028475"/>
              <a:ext cx="3635829" cy="280943"/>
              <a:chOff x="4355872" y="7091362"/>
              <a:chExt cx="3635829" cy="280943"/>
            </a:xfrm>
          </p:grpSpPr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990ED311-D937-227F-BCDD-76AB12FD080D}"/>
                  </a:ext>
                </a:extLst>
              </p:cNvPr>
              <p:cNvSpPr/>
              <p:nvPr/>
            </p:nvSpPr>
            <p:spPr>
              <a:xfrm>
                <a:off x="4355872" y="7091362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F397CB6-6CAA-9405-4C4A-EA6712CA19FE}"/>
                  </a:ext>
                </a:extLst>
              </p:cNvPr>
              <p:cNvSpPr/>
              <p:nvPr/>
            </p:nvSpPr>
            <p:spPr>
              <a:xfrm>
                <a:off x="7722347" y="7091362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16D41590-E3BE-F13B-CA6A-DFFBF379621F}"/>
                </a:ext>
              </a:extLst>
            </p:cNvPr>
            <p:cNvSpPr/>
            <p:nvPr/>
          </p:nvSpPr>
          <p:spPr>
            <a:xfrm>
              <a:off x="9083648" y="13028475"/>
              <a:ext cx="3393542" cy="758547"/>
            </a:xfrm>
            <a:custGeom>
              <a:avLst/>
              <a:gdLst>
                <a:gd name="connsiteX0" fmla="*/ 2208943 w 2434589"/>
                <a:gd name="connsiteY0" fmla="*/ 576548 h 576548"/>
                <a:gd name="connsiteX1" fmla="*/ 225743 w 2434589"/>
                <a:gd name="connsiteY1" fmla="*/ 576548 h 576548"/>
                <a:gd name="connsiteX2" fmla="*/ 116681 w 2434589"/>
                <a:gd name="connsiteY2" fmla="*/ 488156 h 576548"/>
                <a:gd name="connsiteX3" fmla="*/ 0 w 2434589"/>
                <a:gd name="connsiteY3" fmla="*/ 0 h 576548"/>
                <a:gd name="connsiteX4" fmla="*/ 2434590 w 2434589"/>
                <a:gd name="connsiteY4" fmla="*/ 0 h 576548"/>
                <a:gd name="connsiteX5" fmla="*/ 2318004 w 2434589"/>
                <a:gd name="connsiteY5" fmla="*/ 488156 h 576548"/>
                <a:gd name="connsiteX6" fmla="*/ 2208943 w 2434589"/>
                <a:gd name="connsiteY6" fmla="*/ 576548 h 5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4589" h="576548">
                  <a:moveTo>
                    <a:pt x="2208943" y="576548"/>
                  </a:moveTo>
                  <a:lnTo>
                    <a:pt x="225743" y="576548"/>
                  </a:lnTo>
                  <a:cubicBezTo>
                    <a:pt x="174022" y="576548"/>
                    <a:pt x="129064" y="540068"/>
                    <a:pt x="116681" y="488156"/>
                  </a:cubicBezTo>
                  <a:lnTo>
                    <a:pt x="0" y="0"/>
                  </a:lnTo>
                  <a:lnTo>
                    <a:pt x="2434590" y="0"/>
                  </a:lnTo>
                  <a:lnTo>
                    <a:pt x="2318004" y="488156"/>
                  </a:lnTo>
                  <a:cubicBezTo>
                    <a:pt x="2305622" y="540068"/>
                    <a:pt x="2260569" y="576548"/>
                    <a:pt x="2208943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1D796C3-4F55-92ED-EF5E-01EE10200ECD}"/>
                </a:ext>
              </a:extLst>
            </p:cNvPr>
            <p:cNvSpPr txBox="1"/>
            <p:nvPr/>
          </p:nvSpPr>
          <p:spPr>
            <a:xfrm>
              <a:off x="9271093" y="13123313"/>
              <a:ext cx="3036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solidFill>
                    <a:schemeClr val="bg1"/>
                  </a:solidFill>
                  <a:latin typeface="+mn-ea"/>
                </a:rPr>
                <a:t>과제 내용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6E249EB-5474-507E-3DD5-BE9982C6AD95}"/>
              </a:ext>
            </a:extLst>
          </p:cNvPr>
          <p:cNvGrpSpPr/>
          <p:nvPr/>
        </p:nvGrpSpPr>
        <p:grpSpPr>
          <a:xfrm>
            <a:off x="1835149" y="22624191"/>
            <a:ext cx="17965739" cy="758547"/>
            <a:chOff x="1835149" y="22624191"/>
            <a:chExt cx="17965739" cy="758547"/>
          </a:xfrm>
        </p:grpSpPr>
        <p:sp>
          <p:nvSpPr>
            <p:cNvPr id="80" name="왼쪽 대괄호 79">
              <a:extLst>
                <a:ext uri="{FF2B5EF4-FFF2-40B4-BE49-F238E27FC236}">
                  <a16:creationId xmlns:a16="http://schemas.microsoft.com/office/drawing/2014/main" id="{835E1B07-8FE8-315A-0E1A-71A103003717}"/>
                </a:ext>
              </a:extLst>
            </p:cNvPr>
            <p:cNvSpPr/>
            <p:nvPr/>
          </p:nvSpPr>
          <p:spPr>
            <a:xfrm rot="5400000">
              <a:off x="10617858" y="14126791"/>
              <a:ext cx="400321" cy="17965739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CF06E8EE-DA6D-E0EE-B124-52658EF9FDF5}"/>
                </a:ext>
              </a:extLst>
            </p:cNvPr>
            <p:cNvGrpSpPr/>
            <p:nvPr/>
          </p:nvGrpSpPr>
          <p:grpSpPr>
            <a:xfrm>
              <a:off x="8084980" y="22628653"/>
              <a:ext cx="5466076" cy="280943"/>
              <a:chOff x="12753023" y="12863261"/>
              <a:chExt cx="5466076" cy="280943"/>
            </a:xfrm>
          </p:grpSpPr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C69FECC5-1468-84BE-DE7F-C4F02EEFA99E}"/>
                  </a:ext>
                </a:extLst>
              </p:cNvPr>
              <p:cNvSpPr/>
              <p:nvPr/>
            </p:nvSpPr>
            <p:spPr>
              <a:xfrm>
                <a:off x="12753023" y="12863261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9358580F-8068-2E2B-B990-CF82264C234E}"/>
                  </a:ext>
                </a:extLst>
              </p:cNvPr>
              <p:cNvSpPr/>
              <p:nvPr/>
            </p:nvSpPr>
            <p:spPr>
              <a:xfrm>
                <a:off x="17949745" y="12863261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2" name="그래픽 30">
              <a:extLst>
                <a:ext uri="{FF2B5EF4-FFF2-40B4-BE49-F238E27FC236}">
                  <a16:creationId xmlns:a16="http://schemas.microsoft.com/office/drawing/2014/main" id="{60B82BF9-3B70-2ADC-4707-FE9DAB45806C}"/>
                </a:ext>
              </a:extLst>
            </p:cNvPr>
            <p:cNvSpPr/>
            <p:nvPr/>
          </p:nvSpPr>
          <p:spPr>
            <a:xfrm>
              <a:off x="8200780" y="22624191"/>
              <a:ext cx="5234476" cy="758547"/>
            </a:xfrm>
            <a:custGeom>
              <a:avLst/>
              <a:gdLst>
                <a:gd name="connsiteX0" fmla="*/ 3692557 w 3918203"/>
                <a:gd name="connsiteY0" fmla="*/ 576548 h 576548"/>
                <a:gd name="connsiteX1" fmla="*/ 225647 w 3918203"/>
                <a:gd name="connsiteY1" fmla="*/ 576548 h 576548"/>
                <a:gd name="connsiteX2" fmla="*/ 116586 w 3918203"/>
                <a:gd name="connsiteY2" fmla="*/ 488156 h 576548"/>
                <a:gd name="connsiteX3" fmla="*/ 0 w 3918203"/>
                <a:gd name="connsiteY3" fmla="*/ 0 h 576548"/>
                <a:gd name="connsiteX4" fmla="*/ 3918204 w 3918203"/>
                <a:gd name="connsiteY4" fmla="*/ 0 h 576548"/>
                <a:gd name="connsiteX5" fmla="*/ 3801618 w 3918203"/>
                <a:gd name="connsiteY5" fmla="*/ 488156 h 576548"/>
                <a:gd name="connsiteX6" fmla="*/ 3692557 w 3918203"/>
                <a:gd name="connsiteY6" fmla="*/ 576548 h 5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8203" h="576548">
                  <a:moveTo>
                    <a:pt x="3692557" y="576548"/>
                  </a:moveTo>
                  <a:lnTo>
                    <a:pt x="225647" y="576548"/>
                  </a:lnTo>
                  <a:cubicBezTo>
                    <a:pt x="173927" y="576548"/>
                    <a:pt x="128969" y="540068"/>
                    <a:pt x="116586" y="488156"/>
                  </a:cubicBezTo>
                  <a:lnTo>
                    <a:pt x="0" y="0"/>
                  </a:lnTo>
                  <a:lnTo>
                    <a:pt x="3918204" y="0"/>
                  </a:lnTo>
                  <a:lnTo>
                    <a:pt x="3801618" y="488156"/>
                  </a:lnTo>
                  <a:cubicBezTo>
                    <a:pt x="3789236" y="540068"/>
                    <a:pt x="3744278" y="576548"/>
                    <a:pt x="3692557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4BCFD15-2686-85D3-9BC7-F8F135DD21C0}"/>
                </a:ext>
              </a:extLst>
            </p:cNvPr>
            <p:cNvSpPr txBox="1"/>
            <p:nvPr/>
          </p:nvSpPr>
          <p:spPr>
            <a:xfrm>
              <a:off x="8419849" y="22697003"/>
              <a:ext cx="48465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spc="-100" dirty="0">
                  <a:solidFill>
                    <a:schemeClr val="bg1"/>
                  </a:solidFill>
                  <a:latin typeface="+mn-ea"/>
                </a:rPr>
                <a:t>활용방안 및 기대효과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591545BE-ACE7-CE44-7A00-5581DE1AAB02}"/>
              </a:ext>
            </a:extLst>
          </p:cNvPr>
          <p:cNvSpPr txBox="1"/>
          <p:nvPr/>
        </p:nvSpPr>
        <p:spPr>
          <a:xfrm>
            <a:off x="2159001" y="23848666"/>
            <a:ext cx="1728152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j-ea"/>
              </a:rPr>
              <a:t>한림은 정보가 흐르고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인재가 드나들며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새로운 미래가 설계되는 역동적인 교류의 장으로 거듭날 것입니다</a:t>
            </a:r>
            <a:r>
              <a:rPr lang="en-US" altLang="ko-KR" sz="2400" dirty="0">
                <a:latin typeface="+mj-ea"/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j-ea"/>
              </a:rPr>
              <a:t>한림은 춘천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강원도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대한민국을 넘어서 세계로 소통의 장을 확대하고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더 나아가서 인공지능으로 무장된 사이버 캠퍼스까지 확장될 것입니다</a:t>
            </a:r>
            <a:r>
              <a:rPr lang="en-US" altLang="ko-KR" sz="2400" dirty="0">
                <a:latin typeface="+mj-ea"/>
              </a:rPr>
              <a:t>. </a:t>
            </a:r>
          </a:p>
          <a:p>
            <a:pPr algn="just">
              <a:spcBef>
                <a:spcPts val="1200"/>
              </a:spcBef>
            </a:pPr>
            <a:endParaRPr lang="en-US" altLang="ko-KR" sz="2400" dirty="0">
              <a:latin typeface="+mj-ea"/>
            </a:endParaRPr>
          </a:p>
          <a:p>
            <a:pPr algn="just">
              <a:spcBef>
                <a:spcPts val="1200"/>
              </a:spcBef>
            </a:pPr>
            <a:r>
              <a:rPr lang="ko-KR" altLang="en-US" sz="2400" dirty="0">
                <a:latin typeface="+mj-ea"/>
              </a:rPr>
              <a:t>아직 나타나지 않은 새로운 직업과 학문에 대비한 유연한 교육시스템을 제공하여 </a:t>
            </a:r>
            <a:r>
              <a:rPr lang="ko-KR" altLang="en-US" sz="2400" dirty="0" err="1">
                <a:latin typeface="+mj-ea"/>
              </a:rPr>
              <a:t>재학생뿐만</a:t>
            </a:r>
            <a:r>
              <a:rPr lang="ko-KR" altLang="en-US" sz="2400" dirty="0">
                <a:latin typeface="+mj-ea"/>
              </a:rPr>
              <a:t> 아니라 일반 시민</a:t>
            </a:r>
            <a:r>
              <a:rPr lang="en-US" altLang="ko-KR" sz="2400" dirty="0">
                <a:latin typeface="+mj-ea"/>
              </a:rPr>
              <a:t>, </a:t>
            </a:r>
            <a:r>
              <a:rPr lang="ko-KR" altLang="en-US" sz="2400" dirty="0">
                <a:latin typeface="+mj-ea"/>
              </a:rPr>
              <a:t>예비 입학생도 자신의 역량을 발굴하고 키울 수 있도록 하겠습니다</a:t>
            </a:r>
            <a:r>
              <a:rPr lang="en-US" altLang="ko-KR" sz="2400" dirty="0">
                <a:latin typeface="+mj-ea"/>
              </a:rPr>
              <a:t>.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93B0826-6084-6195-E309-3763AF95994C}"/>
              </a:ext>
            </a:extLst>
          </p:cNvPr>
          <p:cNvCxnSpPr/>
          <p:nvPr/>
        </p:nvCxnSpPr>
        <p:spPr>
          <a:xfrm>
            <a:off x="1835148" y="27876000"/>
            <a:ext cx="1796574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F844326-F926-06C2-08FE-87C3A08180BD}"/>
              </a:ext>
            </a:extLst>
          </p:cNvPr>
          <p:cNvSpPr txBox="1"/>
          <p:nvPr/>
        </p:nvSpPr>
        <p:spPr>
          <a:xfrm>
            <a:off x="16171595" y="3551330"/>
            <a:ext cx="4478605" cy="2236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소프트웨어캡스톤디자인</a:t>
            </a: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한림 </a:t>
            </a:r>
            <a:endParaRPr lang="en-US" altLang="ko-KR" sz="2400" spc="-15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홍길동</a:t>
            </a:r>
            <a:r>
              <a:rPr lang="en-US" altLang="ko-KR" sz="2400" spc="-150" dirty="0">
                <a:latin typeface="+mn-ea"/>
              </a:rPr>
              <a:t>, </a:t>
            </a:r>
            <a:r>
              <a:rPr lang="ko-KR" altLang="en-US" sz="2400" spc="-150" dirty="0">
                <a:latin typeface="+mn-ea"/>
              </a:rPr>
              <a:t>홍길동</a:t>
            </a:r>
            <a:r>
              <a:rPr lang="en-US" altLang="ko-KR" sz="2400" spc="-150" dirty="0">
                <a:latin typeface="+mn-ea"/>
              </a:rPr>
              <a:t>, </a:t>
            </a:r>
            <a:r>
              <a:rPr lang="ko-KR" altLang="en-US" sz="2400" spc="-150" dirty="0">
                <a:latin typeface="+mn-ea"/>
              </a:rPr>
              <a:t>홍길동</a:t>
            </a:r>
            <a:endParaRPr lang="en-US" altLang="ko-KR" sz="24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팀 지도 </a:t>
            </a:r>
            <a:r>
              <a:rPr lang="ko-KR" altLang="en-US" sz="2400" spc="-150" dirty="0" err="1">
                <a:latin typeface="+mn-ea"/>
              </a:rPr>
              <a:t>교수명</a:t>
            </a:r>
            <a:endParaRPr lang="ko-KR" altLang="en-US" sz="2400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sz="2400" spc="-150" dirty="0">
              <a:latin typeface="+mn-ea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7FC36F7-D64D-412B-4546-5D45A9B08242}"/>
              </a:ext>
            </a:extLst>
          </p:cNvPr>
          <p:cNvSpPr/>
          <p:nvPr/>
        </p:nvSpPr>
        <p:spPr>
          <a:xfrm>
            <a:off x="1844675" y="2011680"/>
            <a:ext cx="315117" cy="3884295"/>
          </a:xfrm>
          <a:prstGeom prst="rect">
            <a:avLst/>
          </a:prstGeom>
          <a:solidFill>
            <a:srgbClr val="A09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DFE1A0B-A417-845E-AE9D-7045123FA087}"/>
              </a:ext>
            </a:extLst>
          </p:cNvPr>
          <p:cNvSpPr txBox="1"/>
          <p:nvPr/>
        </p:nvSpPr>
        <p:spPr>
          <a:xfrm>
            <a:off x="2305108" y="3487497"/>
            <a:ext cx="11410892" cy="25561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8000" b="1" dirty="0">
                <a:solidFill>
                  <a:srgbClr val="002060"/>
                </a:solidFill>
                <a:latin typeface="+mn-ea"/>
              </a:rPr>
              <a:t>샘플 한림대학교</a:t>
            </a:r>
            <a:endParaRPr lang="en-US" altLang="ko-KR" sz="8000" b="1" dirty="0">
              <a:solidFill>
                <a:srgbClr val="002060"/>
              </a:solidFill>
              <a:latin typeface="+mn-ea"/>
            </a:endParaRPr>
          </a:p>
          <a:p>
            <a:r>
              <a:rPr lang="ko-KR" altLang="en-US" sz="8000" b="1" dirty="0">
                <a:solidFill>
                  <a:srgbClr val="002060"/>
                </a:solidFill>
                <a:latin typeface="+mn-ea"/>
              </a:rPr>
              <a:t>인사말</a:t>
            </a:r>
            <a:r>
              <a:rPr lang="en-US" altLang="ko-KR" sz="8000" b="1" dirty="0">
                <a:solidFill>
                  <a:srgbClr val="002060"/>
                </a:solidFill>
                <a:latin typeface="+mn-ea"/>
              </a:rPr>
              <a:t>/</a:t>
            </a:r>
            <a:r>
              <a:rPr lang="ko-KR" altLang="en-US" sz="8000" b="1" dirty="0">
                <a:solidFill>
                  <a:srgbClr val="002060"/>
                </a:solidFill>
                <a:latin typeface="+mn-ea"/>
              </a:rPr>
              <a:t>프로필</a:t>
            </a:r>
            <a:endParaRPr lang="en-US" altLang="ko-KR" sz="8000" b="1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EC7EFE0-F67B-2A73-06A3-28A2046ADF2D}"/>
              </a:ext>
            </a:extLst>
          </p:cNvPr>
          <p:cNvGrpSpPr/>
          <p:nvPr/>
        </p:nvGrpSpPr>
        <p:grpSpPr>
          <a:xfrm>
            <a:off x="7053878" y="17610771"/>
            <a:ext cx="7436709" cy="3558661"/>
            <a:chOff x="7048615" y="17878903"/>
            <a:chExt cx="6851942" cy="3278835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34A1D3DC-F3D3-8BA9-63FA-A4CA17401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048615" y="18276648"/>
              <a:ext cx="1762899" cy="2483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3">
              <a:extLst>
                <a:ext uri="{FF2B5EF4-FFF2-40B4-BE49-F238E27FC236}">
                  <a16:creationId xmlns:a16="http://schemas.microsoft.com/office/drawing/2014/main" id="{AE4FDAD3-02FF-1FD9-D813-AC74045D8D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305735" y="17878903"/>
              <a:ext cx="2327617" cy="3278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5">
              <a:extLst>
                <a:ext uri="{FF2B5EF4-FFF2-40B4-BE49-F238E27FC236}">
                  <a16:creationId xmlns:a16="http://schemas.microsoft.com/office/drawing/2014/main" id="{BC393BB4-52D5-1994-3468-FD5D681BCB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2076843" y="18233809"/>
              <a:ext cx="1823714" cy="256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2209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278</TotalTime>
  <Words>472</Words>
  <Application>Microsoft Office PowerPoint</Application>
  <PresentationFormat>사용자 지정</PresentationFormat>
  <Paragraphs>46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Danny Jackson</dc:creator>
  <cp:lastModifiedBy>HALLYM</cp:lastModifiedBy>
  <cp:revision>19</cp:revision>
  <dcterms:created xsi:type="dcterms:W3CDTF">2024-10-09T23:33:43Z</dcterms:created>
  <dcterms:modified xsi:type="dcterms:W3CDTF">2025-11-06T00:12:29Z</dcterms:modified>
</cp:coreProperties>
</file>